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32918400" cy="43891200"/>
  <p:notesSz cx="438912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0" d="100"/>
          <a:sy n="60" d="100"/>
        </p:scale>
        <p:origin x="-116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3660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8856" y="680484"/>
            <a:ext cx="32918400" cy="5029200"/>
          </a:xfrm>
          <a:prstGeom prst="rect">
            <a:avLst/>
          </a:prstGeom>
          <a:solidFill>
            <a:srgbClr val="74232F"/>
          </a:solidFill>
          <a:ln w="12700">
            <a:solidFill>
              <a:srgbClr val="74232F"/>
            </a:solidFill>
            <a:prstDash val="solid"/>
          </a:ln>
        </p:spPr>
        <p:txBody>
          <a:bodyPr/>
          <a:lstStyle/>
          <a:p>
            <a:endParaRPr/>
          </a:p>
        </p:txBody>
      </p:sp>
      <p:sp>
        <p:nvSpPr>
          <p:cNvPr id="3" name="Text 1"/>
          <p:cNvSpPr/>
          <p:nvPr/>
        </p:nvSpPr>
        <p:spPr>
          <a:xfrm>
            <a:off x="457200" y="411480"/>
            <a:ext cx="32004000" cy="3108960"/>
          </a:xfrm>
          <a:prstGeom prst="rect">
            <a:avLst/>
          </a:prstGeom>
          <a:noFill/>
          <a:ln/>
        </p:spPr>
        <p:txBody>
          <a:bodyPr wrap="square" rtlCol="0" anchor="ctr"/>
          <a:lstStyle/>
          <a:p>
            <a:pPr marL="0" indent="0" algn="ctr">
              <a:buNone/>
            </a:pPr>
            <a:r>
              <a:rPr lang="en-US" sz="5000" b="1" dirty="0">
                <a:solidFill>
                  <a:srgbClr val="FFFFFF"/>
                </a:solidFill>
                <a:latin typeface="Calibri" pitchFamily="34" charset="0"/>
                <a:ea typeface="Calibri" pitchFamily="34" charset="-122"/>
                <a:cs typeface="Calibri" pitchFamily="34" charset="-120"/>
              </a:rPr>
              <a:t>Predicting Diabetes Diagnosis in U.S. Adults</a:t>
            </a:r>
            <a:endParaRPr lang="en-US" sz="5000" dirty="0"/>
          </a:p>
          <a:p>
            <a:pPr marL="0" indent="0" algn="ctr">
              <a:buNone/>
            </a:pPr>
            <a:r>
              <a:rPr lang="en-US" sz="5000" b="1" dirty="0">
                <a:solidFill>
                  <a:srgbClr val="FFFFFF"/>
                </a:solidFill>
                <a:latin typeface="Calibri" pitchFamily="34" charset="0"/>
                <a:ea typeface="Calibri" pitchFamily="34" charset="-122"/>
                <a:cs typeface="Calibri" pitchFamily="34" charset="-120"/>
              </a:rPr>
              <a:t>Using Support Vector Machines and NHIS 2022</a:t>
            </a:r>
            <a:endParaRPr lang="en-US" sz="5000" dirty="0"/>
          </a:p>
        </p:txBody>
      </p:sp>
      <p:sp>
        <p:nvSpPr>
          <p:cNvPr id="4" name="Text 2"/>
          <p:cNvSpPr/>
          <p:nvPr/>
        </p:nvSpPr>
        <p:spPr>
          <a:xfrm>
            <a:off x="457200" y="3703320"/>
            <a:ext cx="32004000" cy="1005840"/>
          </a:xfrm>
          <a:prstGeom prst="rect">
            <a:avLst/>
          </a:prstGeom>
          <a:noFill/>
          <a:ln/>
        </p:spPr>
        <p:txBody>
          <a:bodyPr wrap="square" rtlCol="0" anchor="ctr"/>
          <a:lstStyle/>
          <a:p>
            <a:pPr marL="0" indent="0" algn="ctr">
              <a:buNone/>
            </a:pPr>
            <a:r>
              <a:rPr lang="en-US" sz="2600" dirty="0">
                <a:solidFill>
                  <a:srgbClr val="F0C0C0"/>
                </a:solidFill>
                <a:latin typeface="Calibri" pitchFamily="34" charset="0"/>
                <a:ea typeface="Calibri" pitchFamily="34" charset="-122"/>
                <a:cs typeface="Calibri" pitchFamily="34" charset="-120"/>
              </a:rPr>
              <a:t>DATA 5322 Statistical Machine Learning II  ·  Seattle University  ·  Spring 2026</a:t>
            </a:r>
          </a:p>
          <a:p>
            <a:pPr algn="ctr"/>
            <a:r>
              <a:rPr lang="en-US" sz="2600" dirty="0">
                <a:solidFill>
                  <a:schemeClr val="bg1"/>
                </a:solidFill>
              </a:rPr>
              <a:t>https://</a:t>
            </a:r>
            <a:r>
              <a:rPr lang="en-US" sz="2600" dirty="0" err="1">
                <a:solidFill>
                  <a:schemeClr val="bg1"/>
                </a:solidFill>
              </a:rPr>
              <a:t>github.com</a:t>
            </a:r>
            <a:r>
              <a:rPr lang="en-US" sz="2600" dirty="0">
                <a:solidFill>
                  <a:schemeClr val="bg1"/>
                </a:solidFill>
              </a:rPr>
              <a:t>/</a:t>
            </a:r>
            <a:r>
              <a:rPr lang="en-US" sz="2600" dirty="0" err="1">
                <a:solidFill>
                  <a:schemeClr val="bg1"/>
                </a:solidFill>
              </a:rPr>
              <a:t>gpskentzos</a:t>
            </a:r>
            <a:r>
              <a:rPr lang="en-US" sz="2600" dirty="0">
                <a:solidFill>
                  <a:schemeClr val="bg1"/>
                </a:solidFill>
              </a:rPr>
              <a:t>/DATA5322-PredictingDiabetesDiagnosis</a:t>
            </a:r>
          </a:p>
        </p:txBody>
      </p:sp>
      <p:sp>
        <p:nvSpPr>
          <p:cNvPr id="5" name="Shape 3"/>
          <p:cNvSpPr/>
          <p:nvPr/>
        </p:nvSpPr>
        <p:spPr>
          <a:xfrm>
            <a:off x="0" y="41468040"/>
            <a:ext cx="32918400" cy="2148840"/>
          </a:xfrm>
          <a:prstGeom prst="rect">
            <a:avLst/>
          </a:prstGeom>
          <a:solidFill>
            <a:srgbClr val="F2F2F2"/>
          </a:solidFill>
          <a:ln w="12700">
            <a:solidFill>
              <a:srgbClr val="CCCCCC"/>
            </a:solidFill>
            <a:prstDash val="solid"/>
          </a:ln>
        </p:spPr>
        <p:txBody>
          <a:bodyPr/>
          <a:lstStyle/>
          <a:p>
            <a:endParaRPr/>
          </a:p>
        </p:txBody>
      </p:sp>
      <p:sp>
        <p:nvSpPr>
          <p:cNvPr id="6" name="Text 4"/>
          <p:cNvSpPr/>
          <p:nvPr/>
        </p:nvSpPr>
        <p:spPr>
          <a:xfrm>
            <a:off x="457200" y="41513760"/>
            <a:ext cx="32004000" cy="2011680"/>
          </a:xfrm>
          <a:prstGeom prst="rect">
            <a:avLst/>
          </a:prstGeom>
          <a:noFill/>
          <a:ln/>
        </p:spPr>
        <p:txBody>
          <a:bodyPr wrap="square" rtlCol="0" anchor="ctr"/>
          <a:lstStyle/>
          <a:p>
            <a:pPr marL="0" indent="0" algn="l">
              <a:buNone/>
            </a:pPr>
            <a:r>
              <a:rPr lang="en-US" sz="1700" dirty="0">
                <a:solidFill>
                  <a:srgbClr val="444444"/>
                </a:solidFill>
                <a:latin typeface="Calibri" pitchFamily="34" charset="0"/>
                <a:ea typeface="Calibri" pitchFamily="34" charset="-122"/>
                <a:cs typeface="Calibri" pitchFamily="34" charset="-120"/>
              </a:rPr>
              <a:t>[1] CDC. National Diabetes Statistics Report, 2022.  [2] ADA. Standards of Medical Care in Diabetes - 2023. Diabetes Care, 46(S1), 2023.  [3] Hill-Briggs et al. Social Determinants of Health and Diabetes. Diabetes Care, 44(1):258–279, 2021.  [4] Shan et al. Sleep Duration and Risk of T2D. Diabetes Care, 38(3):529–537, 2015.</a:t>
            </a:r>
            <a:endParaRPr lang="en-US" sz="1700" dirty="0"/>
          </a:p>
          <a:p>
            <a:pPr marL="0" indent="0" algn="l">
              <a:buNone/>
            </a:pPr>
            <a:r>
              <a:rPr lang="en-US" sz="1700" dirty="0">
                <a:solidFill>
                  <a:srgbClr val="444444"/>
                </a:solidFill>
                <a:latin typeface="Calibri" pitchFamily="34" charset="0"/>
                <a:ea typeface="Calibri" pitchFamily="34" charset="-122"/>
                <a:cs typeface="Calibri" pitchFamily="34" charset="-120"/>
              </a:rPr>
              <a:t>[5] CDC. Smoking and Diabetes. cdc.gov/tobacco  [6] Baliunas et al. Alcohol as a Risk Factor for T2D. Diabetes Care, 32(11):2123–2132, 2009.  [7] Imamura et al. Sugar-Sweetened Beverages and T2D. BMJ, 351:h3576, 2015.  [8] Pedregosa et al. Scikit-learn. JMLR, 12:2825–2830, 2011.  [9] Blewett LA, Rivera Drew JA, King ML, Williams KCW, Backman D, Chen A, Richards S. IPUMS Health Surveys: NHIS, Version 7.4 [dataset]. Minneapolis: IPUMS, 2024. doi:10.18128/D070.V7.4</a:t>
            </a:r>
            <a:endParaRPr lang="en-US" sz="1700" dirty="0"/>
          </a:p>
        </p:txBody>
      </p:sp>
      <p:sp>
        <p:nvSpPr>
          <p:cNvPr id="7" name="Shape 5"/>
          <p:cNvSpPr/>
          <p:nvPr/>
        </p:nvSpPr>
        <p:spPr>
          <a:xfrm>
            <a:off x="548640" y="5394960"/>
            <a:ext cx="9875520" cy="530352"/>
          </a:xfrm>
          <a:prstGeom prst="rect">
            <a:avLst/>
          </a:prstGeom>
          <a:solidFill>
            <a:srgbClr val="74232F"/>
          </a:solidFill>
          <a:ln w="12700">
            <a:solidFill>
              <a:srgbClr val="74232F"/>
            </a:solidFill>
            <a:prstDash val="solid"/>
          </a:ln>
        </p:spPr>
        <p:txBody>
          <a:bodyPr/>
          <a:lstStyle/>
          <a:p>
            <a:endParaRPr/>
          </a:p>
        </p:txBody>
      </p:sp>
      <p:sp>
        <p:nvSpPr>
          <p:cNvPr id="8" name="Text 6"/>
          <p:cNvSpPr/>
          <p:nvPr/>
        </p:nvSpPr>
        <p:spPr>
          <a:xfrm>
            <a:off x="685800" y="5394960"/>
            <a:ext cx="960120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INTRODUCTION</a:t>
            </a:r>
            <a:endParaRPr lang="en-US" sz="2800" dirty="0"/>
          </a:p>
        </p:txBody>
      </p:sp>
      <p:sp>
        <p:nvSpPr>
          <p:cNvPr id="9" name="Text 7"/>
          <p:cNvSpPr/>
          <p:nvPr/>
        </p:nvSpPr>
        <p:spPr>
          <a:xfrm>
            <a:off x="548640" y="6016752"/>
            <a:ext cx="9875520" cy="4937760"/>
          </a:xfrm>
          <a:prstGeom prst="rect">
            <a:avLst/>
          </a:prstGeom>
          <a:noFill/>
          <a:ln/>
        </p:spPr>
        <p:txBody>
          <a:bodyPr wrap="square" rtlCol="0" anchor="t"/>
          <a:lstStyle/>
          <a:p>
            <a:r>
              <a:rPr lang="en-US" sz="2000" dirty="0"/>
              <a:t>I chose this problem because diabetes risk is influenced by both biological and behavioral factors, making it a good candidate for exploring classification models like SVM.</a:t>
            </a:r>
          </a:p>
          <a:p>
            <a:endParaRPr lang="en-US" sz="2000" b="1" dirty="0">
              <a:solidFill>
                <a:srgbClr val="222222"/>
              </a:solidFill>
              <a:latin typeface="Calibri" pitchFamily="34" charset="0"/>
              <a:ea typeface="Calibri" pitchFamily="34" charset="-122"/>
              <a:cs typeface="Calibri" pitchFamily="34" charset="-120"/>
            </a:endParaRPr>
          </a:p>
          <a:p>
            <a:pPr marL="0" indent="0" algn="l">
              <a:buNone/>
            </a:pPr>
            <a:r>
              <a:rPr lang="en-US" sz="2400" b="1" dirty="0">
                <a:solidFill>
                  <a:srgbClr val="222222"/>
                </a:solidFill>
                <a:latin typeface="Calibri" pitchFamily="34" charset="0"/>
                <a:ea typeface="Calibri" pitchFamily="34" charset="-122"/>
                <a:cs typeface="Calibri" pitchFamily="34" charset="-120"/>
              </a:rPr>
              <a:t>Diabetes affects 37.3 million Americans</a:t>
            </a:r>
            <a:r>
              <a:rPr lang="en-US" sz="2400" dirty="0">
                <a:solidFill>
                  <a:srgbClr val="222222"/>
                </a:solidFill>
                <a:latin typeface="Calibri" pitchFamily="34" charset="0"/>
                <a:ea typeface="Calibri" pitchFamily="34" charset="-122"/>
                <a:cs typeface="Calibri" pitchFamily="34" charset="-120"/>
              </a:rPr>
              <a:t>  -  28.7 million diagnosed and 8.6 million undiagnosed [1]. Early identification of at-risk individuals enables preventive intervention before clinical onset.</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Research Question: </a:t>
            </a:r>
            <a:r>
              <a:rPr lang="en-US" sz="2400" dirty="0">
                <a:solidFill>
                  <a:srgbClr val="222222"/>
                </a:solidFill>
                <a:latin typeface="Calibri" pitchFamily="34" charset="0"/>
                <a:ea typeface="Calibri" pitchFamily="34" charset="-122"/>
                <a:cs typeface="Calibri" pitchFamily="34" charset="-120"/>
              </a:rPr>
              <a:t>Can demographic, lifestyle, and dietary survey data alone predict whether a U.S. adult has ever received a diabetes diagnosis?</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Dataset: </a:t>
            </a:r>
            <a:r>
              <a:rPr lang="en-US" sz="2400" dirty="0">
                <a:solidFill>
                  <a:srgbClr val="222222"/>
                </a:solidFill>
                <a:latin typeface="Calibri" pitchFamily="34" charset="0"/>
                <a:ea typeface="Calibri" pitchFamily="34" charset="-122"/>
                <a:cs typeface="Calibri" pitchFamily="34" charset="-120"/>
              </a:rPr>
              <a:t>NHIS 2022 via IPUMS Health Surveys [9]  -  nationally representative household survey; 27,651 adult respondents; 48 health and demographic variables.</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Method: </a:t>
            </a:r>
            <a:r>
              <a:rPr lang="en-US" sz="2400" dirty="0">
                <a:solidFill>
                  <a:srgbClr val="222222"/>
                </a:solidFill>
                <a:latin typeface="Calibri" pitchFamily="34" charset="0"/>
                <a:ea typeface="Calibri" pitchFamily="34" charset="-122"/>
                <a:cs typeface="Calibri" pitchFamily="34" charset="-120"/>
              </a:rPr>
              <a:t>Support Vector Classifier (SVC) with linear, RBF, and polynomial kernels, tuned via 5-fold stratified cross-validation.</a:t>
            </a:r>
            <a:endParaRPr lang="en-US" sz="2400" dirty="0"/>
          </a:p>
        </p:txBody>
      </p:sp>
      <p:sp>
        <p:nvSpPr>
          <p:cNvPr id="10" name="Shape 8"/>
          <p:cNvSpPr/>
          <p:nvPr/>
        </p:nvSpPr>
        <p:spPr>
          <a:xfrm>
            <a:off x="548640" y="11091672"/>
            <a:ext cx="9875520" cy="530352"/>
          </a:xfrm>
          <a:prstGeom prst="rect">
            <a:avLst/>
          </a:prstGeom>
          <a:solidFill>
            <a:srgbClr val="74232F"/>
          </a:solidFill>
          <a:ln w="12700">
            <a:solidFill>
              <a:srgbClr val="74232F"/>
            </a:solidFill>
            <a:prstDash val="solid"/>
          </a:ln>
        </p:spPr>
        <p:txBody>
          <a:bodyPr/>
          <a:lstStyle/>
          <a:p>
            <a:endParaRPr/>
          </a:p>
        </p:txBody>
      </p:sp>
      <p:sp>
        <p:nvSpPr>
          <p:cNvPr id="11" name="Text 9"/>
          <p:cNvSpPr/>
          <p:nvPr/>
        </p:nvSpPr>
        <p:spPr>
          <a:xfrm>
            <a:off x="685800" y="11091672"/>
            <a:ext cx="960120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 &amp; CLEANING</a:t>
            </a:r>
            <a:endParaRPr lang="en-US" sz="2800" dirty="0"/>
          </a:p>
        </p:txBody>
      </p:sp>
      <p:sp>
        <p:nvSpPr>
          <p:cNvPr id="12" name="Text 10"/>
          <p:cNvSpPr/>
          <p:nvPr/>
        </p:nvSpPr>
        <p:spPr>
          <a:xfrm>
            <a:off x="548640" y="11713464"/>
            <a:ext cx="9875520" cy="8412480"/>
          </a:xfrm>
          <a:prstGeom prst="rect">
            <a:avLst/>
          </a:prstGeom>
          <a:noFill/>
          <a:ln/>
        </p:spPr>
        <p:txBody>
          <a:bodyPr wrap="square" rtlCol="0" anchor="t"/>
          <a:lstStyle/>
          <a:p>
            <a:pPr marL="0" indent="0" algn="l">
              <a:buNone/>
            </a:pPr>
            <a:r>
              <a:rPr lang="en-US" sz="2400" dirty="0">
                <a:solidFill>
                  <a:srgbClr val="222222"/>
                </a:solidFill>
                <a:latin typeface="Calibri" pitchFamily="34" charset="0"/>
                <a:ea typeface="Calibri" pitchFamily="34" charset="-122"/>
                <a:cs typeface="Calibri" pitchFamily="34" charset="-120"/>
              </a:rPr>
              <a:t>Starting: 35,115 rows × 48 columns</a:t>
            </a:r>
            <a:endParaRPr lang="en-US" sz="2400" dirty="0"/>
          </a:p>
          <a:p>
            <a:pPr marL="0" indent="0" algn="l">
              <a:buNone/>
            </a:pPr>
            <a:r>
              <a:rPr lang="en-US" sz="2400" dirty="0">
                <a:solidFill>
                  <a:srgbClr val="222222"/>
                </a:solidFill>
                <a:latin typeface="Calibri" pitchFamily="34" charset="0"/>
                <a:ea typeface="Calibri" pitchFamily="34" charset="-122"/>
                <a:cs typeface="Calibri" pitchFamily="34" charset="-120"/>
              </a:rPr>
              <a:t>→ Filter adults (ASTATFLG=1): 27,651 rows</a:t>
            </a:r>
            <a:endParaRPr lang="en-US" sz="2400" dirty="0"/>
          </a:p>
          <a:p>
            <a:pPr marL="0" indent="0" algn="l">
              <a:buNone/>
            </a:pPr>
            <a:r>
              <a:rPr lang="en-US" sz="2400" dirty="0">
                <a:solidFill>
                  <a:srgbClr val="222222"/>
                </a:solidFill>
                <a:latin typeface="Calibri" pitchFamily="34" charset="0"/>
                <a:ea typeface="Calibri" pitchFamily="34" charset="-122"/>
                <a:cs typeface="Calibri" pitchFamily="34" charset="-120"/>
              </a:rPr>
              <a:t>→ Valid diabetes responses: 27,619 rows</a:t>
            </a:r>
            <a:endParaRPr lang="en-US" sz="2400" dirty="0"/>
          </a:p>
          <a:p>
            <a:pPr marL="0" indent="0" algn="l">
              <a:buNone/>
            </a:pPr>
            <a:r>
              <a:rPr lang="en-US" sz="2400" dirty="0">
                <a:solidFill>
                  <a:srgbClr val="222222"/>
                </a:solidFill>
                <a:latin typeface="Calibri" pitchFamily="34" charset="0"/>
                <a:ea typeface="Calibri" pitchFamily="34" charset="-122"/>
                <a:cs typeface="Calibri" pitchFamily="34" charset="-120"/>
              </a:rPr>
              <a:t>→ Remove special/missing codes: 23,775 rows</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13 Features Selected:</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Demographic: Age, Sex, Education, Poverty tier</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Body composition: BMI</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Lifestyle: Sleep, Mod. activity, Vig. activity, Cigarettes/day, Alcohol days/yr</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Diet: Fruit, Vegetable, and Soda frequency</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Encoding:</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SEX → binary 0/1 (nominal, not ordinal)</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EDUC → ordinal 1–8 (non-consecutive NHIS codes remapped)</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POVERTY → 3-tier ordinal (below/near/above FPL)</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CIGDAYMO = 96 → 0 (non-smoker; NIU code)</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ALCDAYSYR = 996 → 0 (non-drinker; NIU code)</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Class balance: </a:t>
            </a:r>
            <a:r>
              <a:rPr lang="en-US" sz="2400" dirty="0">
                <a:solidFill>
                  <a:srgbClr val="222222"/>
                </a:solidFill>
                <a:latin typeface="Calibri" pitchFamily="34" charset="0"/>
                <a:ea typeface="Calibri" pitchFamily="34" charset="-122"/>
                <a:cs typeface="Calibri" pitchFamily="34" charset="-120"/>
              </a:rPr>
              <a:t>89.7% no diabetes / 10.3% diabetes</a:t>
            </a:r>
            <a:endParaRPr lang="en-US" sz="2400" dirty="0"/>
          </a:p>
        </p:txBody>
      </p:sp>
      <p:pic>
        <p:nvPicPr>
          <p:cNvPr id="13" name="Image 0" descr="/Users/skentzos/Sync/Academic/SeattleU/2025-2026/Spring2026/DATA5322/Projects/Week3/figures/missingness_by_column.png"/>
          <p:cNvPicPr>
            <a:picLocks noChangeAspect="1"/>
          </p:cNvPicPr>
          <p:nvPr/>
        </p:nvPicPr>
        <p:blipFill>
          <a:blip r:embed="rId3"/>
          <a:stretch>
            <a:fillRect/>
          </a:stretch>
        </p:blipFill>
        <p:spPr>
          <a:xfrm>
            <a:off x="548640" y="20308824"/>
            <a:ext cx="9875520" cy="4572000"/>
          </a:xfrm>
          <a:prstGeom prst="rect">
            <a:avLst/>
          </a:prstGeom>
        </p:spPr>
      </p:pic>
      <p:sp>
        <p:nvSpPr>
          <p:cNvPr id="14" name="Text 11"/>
          <p:cNvSpPr/>
          <p:nvPr/>
        </p:nvSpPr>
        <p:spPr>
          <a:xfrm>
            <a:off x="548640" y="24972264"/>
            <a:ext cx="9875520" cy="548640"/>
          </a:xfrm>
          <a:prstGeom prst="rect">
            <a:avLst/>
          </a:prstGeom>
          <a:noFill/>
          <a:ln/>
        </p:spPr>
        <p:txBody>
          <a:bodyPr wrap="square" rtlCol="0" anchor="ctr"/>
          <a:lstStyle/>
          <a:p>
            <a:pPr marL="0" indent="0" algn="ctr">
              <a:buNone/>
            </a:pPr>
            <a:r>
              <a:rPr lang="en-US" sz="2000" i="1" dirty="0">
                <a:solidFill>
                  <a:srgbClr val="555555"/>
                </a:solidFill>
                <a:latin typeface="Calibri" pitchFamily="34" charset="0"/>
                <a:ea typeface="Calibri" pitchFamily="34" charset="-122"/>
                <a:cs typeface="Calibri" pitchFamily="34" charset="-120"/>
              </a:rPr>
              <a:t>Figure 1. Rows removed per feature during cleaning (highest: BMICALC ~8.5%).</a:t>
            </a:r>
            <a:endParaRPr lang="en-US" sz="2000" dirty="0"/>
          </a:p>
        </p:txBody>
      </p:sp>
      <p:sp>
        <p:nvSpPr>
          <p:cNvPr id="15" name="Shape 12"/>
          <p:cNvSpPr/>
          <p:nvPr/>
        </p:nvSpPr>
        <p:spPr>
          <a:xfrm>
            <a:off x="548640" y="25703784"/>
            <a:ext cx="9875520" cy="530352"/>
          </a:xfrm>
          <a:prstGeom prst="rect">
            <a:avLst/>
          </a:prstGeom>
          <a:solidFill>
            <a:srgbClr val="74232F"/>
          </a:solidFill>
          <a:ln w="12700">
            <a:solidFill>
              <a:srgbClr val="74232F"/>
            </a:solidFill>
            <a:prstDash val="solid"/>
          </a:ln>
        </p:spPr>
        <p:txBody>
          <a:bodyPr/>
          <a:lstStyle/>
          <a:p>
            <a:endParaRPr/>
          </a:p>
        </p:txBody>
      </p:sp>
      <p:sp>
        <p:nvSpPr>
          <p:cNvPr id="16" name="Text 13"/>
          <p:cNvSpPr/>
          <p:nvPr/>
        </p:nvSpPr>
        <p:spPr>
          <a:xfrm>
            <a:off x="685800" y="25703784"/>
            <a:ext cx="960120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METHODOLOGY</a:t>
            </a:r>
            <a:endParaRPr lang="en-US" sz="2800" dirty="0"/>
          </a:p>
        </p:txBody>
      </p:sp>
      <p:sp>
        <p:nvSpPr>
          <p:cNvPr id="17" name="Text 14"/>
          <p:cNvSpPr/>
          <p:nvPr/>
        </p:nvSpPr>
        <p:spPr>
          <a:xfrm>
            <a:off x="548640" y="26325576"/>
            <a:ext cx="9875520" cy="7315200"/>
          </a:xfrm>
          <a:prstGeom prst="rect">
            <a:avLst/>
          </a:prstGeom>
          <a:noFill/>
          <a:ln/>
        </p:spPr>
        <p:txBody>
          <a:bodyPr wrap="square" rtlCol="0" anchor="t"/>
          <a:lstStyle/>
          <a:p>
            <a:r>
              <a:rPr lang="en-US" sz="2400" dirty="0"/>
              <a:t>I used ROC-AUC as the primary metric because the dataset is imbalanced, and accuracy alone would not capture performance on the minority (diabetes) class.</a:t>
            </a:r>
            <a:endParaRPr lang="en-US" sz="2400" b="1" dirty="0">
              <a:solidFill>
                <a:srgbClr val="222222"/>
              </a:solidFill>
              <a:latin typeface="Calibri" pitchFamily="34" charset="0"/>
              <a:ea typeface="Calibri" pitchFamily="34" charset="-122"/>
              <a:cs typeface="Calibri" pitchFamily="34" charset="-120"/>
            </a:endParaRPr>
          </a:p>
          <a:p>
            <a:pPr marL="0" indent="0" algn="l">
              <a:buNone/>
            </a:pPr>
            <a:endParaRPr lang="en-US" sz="2400" b="1" dirty="0">
              <a:solidFill>
                <a:srgbClr val="222222"/>
              </a:solidFill>
              <a:latin typeface="Calibri" pitchFamily="34" charset="0"/>
              <a:ea typeface="Calibri" pitchFamily="34" charset="-122"/>
              <a:cs typeface="Calibri" pitchFamily="34" charset="-120"/>
            </a:endParaRPr>
          </a:p>
          <a:p>
            <a:pPr marL="0" indent="0" algn="l">
              <a:buNone/>
            </a:pPr>
            <a:r>
              <a:rPr lang="en-US" sz="2400" b="1" dirty="0">
                <a:solidFill>
                  <a:srgbClr val="222222"/>
                </a:solidFill>
                <a:latin typeface="Calibri" pitchFamily="34" charset="0"/>
                <a:ea typeface="Calibri" pitchFamily="34" charset="-122"/>
                <a:cs typeface="Calibri" pitchFamily="34" charset="-120"/>
              </a:rPr>
              <a:t>Train/Test Split: </a:t>
            </a:r>
            <a:r>
              <a:rPr lang="en-US" sz="2400" dirty="0">
                <a:solidFill>
                  <a:srgbClr val="222222"/>
                </a:solidFill>
                <a:latin typeface="Calibri" pitchFamily="34" charset="0"/>
                <a:ea typeface="Calibri" pitchFamily="34" charset="-122"/>
                <a:cs typeface="Calibri" pitchFamily="34" charset="-120"/>
              </a:rPr>
              <a:t>80/20 stratified (19,020 train / 4,755 test); stratification preserves 10.3% prevalence.</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Pipeline: </a:t>
            </a:r>
            <a:r>
              <a:rPr lang="en-US" sz="2400" dirty="0">
                <a:solidFill>
                  <a:srgbClr val="222222"/>
                </a:solidFill>
                <a:latin typeface="Calibri" pitchFamily="34" charset="0"/>
                <a:ea typeface="Calibri" pitchFamily="34" charset="-122"/>
                <a:cs typeface="Calibri" pitchFamily="34" charset="-120"/>
              </a:rPr>
              <a:t>StandardScaler → SVC (scaler fit on training folds only  -  no data leakage)</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Class imbalance: </a:t>
            </a:r>
            <a:r>
              <a:rPr lang="en-US" sz="2400" dirty="0">
                <a:solidFill>
                  <a:srgbClr val="222222"/>
                </a:solidFill>
                <a:latin typeface="Calibri" pitchFamily="34" charset="0"/>
                <a:ea typeface="Calibri" pitchFamily="34" charset="-122"/>
                <a:cs typeface="Calibri" pitchFamily="34" charset="-120"/>
              </a:rPr>
              <a:t>class_weight='balanced' up-weights minority class by inverse frequency ratio.</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GridSearchCV, 5-fold stratified CV, optimizing ROC-AUC:</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Linear: C ∈ {0.01, 0.1, 1, 10}</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RBF: C ∈ {0.01, 0.1, 1, 10}, γ ∈ {scale, 0.01, 0.1}</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Poly: C ∈ {0.1, 1, 10}, γ = scale, degree ∈ {2, 3}</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Primary metric: </a:t>
            </a:r>
            <a:r>
              <a:rPr lang="en-US" sz="2400" dirty="0">
                <a:solidFill>
                  <a:srgbClr val="222222"/>
                </a:solidFill>
                <a:latin typeface="Calibri" pitchFamily="34" charset="0"/>
                <a:ea typeface="Calibri" pitchFamily="34" charset="-122"/>
                <a:cs typeface="Calibri" pitchFamily="34" charset="-120"/>
              </a:rPr>
              <a:t>ROC-AUC (threshold-independent; preferred for imbalanced classes). Also report Precision, Recall, F1 for the diabetes (positive) class.</a:t>
            </a:r>
            <a:endParaRPr lang="en-US" sz="2400" dirty="0"/>
          </a:p>
        </p:txBody>
      </p:sp>
      <p:sp>
        <p:nvSpPr>
          <p:cNvPr id="18" name="Shape 15"/>
          <p:cNvSpPr/>
          <p:nvPr/>
        </p:nvSpPr>
        <p:spPr>
          <a:xfrm>
            <a:off x="10972800" y="5394960"/>
            <a:ext cx="9875520" cy="530352"/>
          </a:xfrm>
          <a:prstGeom prst="rect">
            <a:avLst/>
          </a:prstGeom>
          <a:solidFill>
            <a:srgbClr val="74232F"/>
          </a:solidFill>
          <a:ln w="12700">
            <a:solidFill>
              <a:srgbClr val="74232F"/>
            </a:solidFill>
            <a:prstDash val="solid"/>
          </a:ln>
        </p:spPr>
        <p:txBody>
          <a:bodyPr/>
          <a:lstStyle/>
          <a:p>
            <a:endParaRPr/>
          </a:p>
        </p:txBody>
      </p:sp>
      <p:sp>
        <p:nvSpPr>
          <p:cNvPr id="19" name="Text 16"/>
          <p:cNvSpPr/>
          <p:nvPr/>
        </p:nvSpPr>
        <p:spPr>
          <a:xfrm>
            <a:off x="11109960" y="5394960"/>
            <a:ext cx="960120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THEORETICAL BACKGROUND</a:t>
            </a:r>
            <a:endParaRPr lang="en-US" sz="2800" dirty="0"/>
          </a:p>
        </p:txBody>
      </p:sp>
      <p:sp>
        <p:nvSpPr>
          <p:cNvPr id="20" name="Text 17"/>
          <p:cNvSpPr/>
          <p:nvPr/>
        </p:nvSpPr>
        <p:spPr>
          <a:xfrm>
            <a:off x="10972800" y="6016752"/>
            <a:ext cx="9875520" cy="19202400"/>
          </a:xfrm>
          <a:prstGeom prst="rect">
            <a:avLst/>
          </a:prstGeom>
          <a:noFill/>
          <a:ln/>
        </p:spPr>
        <p:txBody>
          <a:bodyPr wrap="square" rtlCol="0" anchor="t"/>
          <a:lstStyle/>
          <a:p>
            <a:r>
              <a:rPr lang="en-US" sz="2400" dirty="0"/>
              <a:t>In this project, SVM is used to determine whether these survey-based features can meaningfully separate individuals with and without a diabetes diagnosis.</a:t>
            </a:r>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Decision function:  f(x) = sign(w · x + b)</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Hard-Margin (linearly separable data):</a:t>
            </a:r>
            <a:endParaRPr lang="en-US" sz="2400" dirty="0"/>
          </a:p>
          <a:p>
            <a:pPr marL="0" indent="0" algn="l">
              <a:buNone/>
            </a:pPr>
            <a:r>
              <a:rPr lang="en-US" sz="2400" dirty="0">
                <a:solidFill>
                  <a:srgbClr val="222222"/>
                </a:solidFill>
                <a:latin typeface="Calibri" pitchFamily="34" charset="0"/>
                <a:ea typeface="Calibri" pitchFamily="34" charset="-122"/>
                <a:cs typeface="Calibri" pitchFamily="34" charset="-120"/>
              </a:rPr>
              <a:t>Minimize   ½ ‖w‖²</a:t>
            </a:r>
            <a:endParaRPr lang="en-US" sz="2400" dirty="0"/>
          </a:p>
          <a:p>
            <a:pPr marL="0" indent="0" algn="l">
              <a:buNone/>
            </a:pPr>
            <a:r>
              <a:rPr lang="en-US" sz="2400" dirty="0">
                <a:solidFill>
                  <a:srgbClr val="222222"/>
                </a:solidFill>
                <a:latin typeface="Calibri" pitchFamily="34" charset="0"/>
                <a:ea typeface="Calibri" pitchFamily="34" charset="-122"/>
                <a:cs typeface="Calibri" pitchFamily="34" charset="-120"/>
              </a:rPr>
              <a:t>Subject to   yᵢ(w · xᵢ + b) ≥ 1   for all i</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Soft-Margin SVM (real data  -  allows slack ξ):</a:t>
            </a:r>
            <a:endParaRPr lang="en-US" sz="2400" dirty="0"/>
          </a:p>
          <a:p>
            <a:pPr marL="0" indent="0" algn="l">
              <a:buNone/>
            </a:pPr>
            <a:r>
              <a:rPr lang="en-US" sz="2400" dirty="0">
                <a:solidFill>
                  <a:srgbClr val="222222"/>
                </a:solidFill>
                <a:latin typeface="Calibri" pitchFamily="34" charset="0"/>
                <a:ea typeface="Calibri" pitchFamily="34" charset="-122"/>
                <a:cs typeface="Calibri" pitchFamily="34" charset="-120"/>
              </a:rPr>
              <a:t>Minimize   ½ ‖w‖² + C · Σ ξᵢ</a:t>
            </a:r>
            <a:endParaRPr lang="en-US" sz="2400" dirty="0"/>
          </a:p>
          <a:p>
            <a:pPr marL="0" indent="0" algn="l">
              <a:buNone/>
            </a:pPr>
            <a:r>
              <a:rPr lang="en-US" sz="2400" dirty="0">
                <a:solidFill>
                  <a:srgbClr val="222222"/>
                </a:solidFill>
                <a:latin typeface="Calibri" pitchFamily="34" charset="0"/>
                <a:ea typeface="Calibri" pitchFamily="34" charset="-122"/>
                <a:cs typeface="Calibri" pitchFamily="34" charset="-120"/>
              </a:rPr>
              <a:t>Subject to   yᵢ(w · xᵢ + b) ≥ 1 − ξᵢ,   ξᵢ ≥ 0</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C (regularization):</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Small C → wide margin, more errors tolerated (↑ bias, ↓ variance)</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Large C → narrow margin, fewer errors (↓ bias, ↑ variance; overfit risk)</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Kernel Trick: </a:t>
            </a:r>
            <a:r>
              <a:rPr lang="en-US" sz="2400" dirty="0">
                <a:solidFill>
                  <a:srgbClr val="222222"/>
                </a:solidFill>
                <a:latin typeface="Calibri" pitchFamily="34" charset="0"/>
                <a:ea typeface="Calibri" pitchFamily="34" charset="-122"/>
                <a:cs typeface="Calibri" pitchFamily="34" charset="-120"/>
              </a:rPr>
              <a:t>Replaces dot products with K(xᵢ, xⱼ), mapping data to high-dimensional space implicitly.</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Linear:  K(xᵢ, xⱼ) = xᵢ · xⱼ</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Hyperplane boundary; coefficient vector w is directly interpretable. Best when classes are approximately linearly separable.</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RBF (Gaussian):  K(xᵢ, xⱼ) = exp(−γ ‖xᵢ − xⱼ‖²)</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γ controls influence radius. Small γ = smooth global boundary; large γ = complex local boundary (overfit risk). Most generally applicable kernel.</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Polynomial:  K(xᵢ, xⱼ) = (γ xᵢ · xⱼ + r)^d</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Degree d controls complexity. Also tuned: γ and offset r. More expressive than linear; computationally expensive at high d.</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Practical Considerations:</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Features must be standardized  -  SVM is sensitive to feature magnitude</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Training complexity: O(n²)–O(n³) for nonlinear kernels; ~O(n) for linear SVM</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RBF and polynomial kernels are black-box (no direct coefficient interpretation)</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class_weight='balanced' corrects class imbalance automatically</a:t>
            </a:r>
            <a:endParaRPr lang="en-US" sz="2400" dirty="0"/>
          </a:p>
        </p:txBody>
      </p:sp>
      <p:sp>
        <p:nvSpPr>
          <p:cNvPr id="21" name="Shape 18"/>
          <p:cNvSpPr/>
          <p:nvPr/>
        </p:nvSpPr>
        <p:spPr>
          <a:xfrm>
            <a:off x="10972800" y="25402032"/>
            <a:ext cx="9875520" cy="530352"/>
          </a:xfrm>
          <a:prstGeom prst="rect">
            <a:avLst/>
          </a:prstGeom>
          <a:solidFill>
            <a:srgbClr val="74232F"/>
          </a:solidFill>
          <a:ln w="12700">
            <a:solidFill>
              <a:srgbClr val="74232F"/>
            </a:solidFill>
            <a:prstDash val="solid"/>
          </a:ln>
        </p:spPr>
        <p:txBody>
          <a:bodyPr/>
          <a:lstStyle/>
          <a:p>
            <a:endParaRPr/>
          </a:p>
        </p:txBody>
      </p:sp>
      <p:sp>
        <p:nvSpPr>
          <p:cNvPr id="22" name="Text 19"/>
          <p:cNvSpPr/>
          <p:nvPr/>
        </p:nvSpPr>
        <p:spPr>
          <a:xfrm>
            <a:off x="11109960" y="25402032"/>
            <a:ext cx="960120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SVM DECISION BOUNDARY</a:t>
            </a:r>
            <a:endParaRPr lang="en-US" sz="2800" dirty="0"/>
          </a:p>
        </p:txBody>
      </p:sp>
      <p:sp>
        <p:nvSpPr>
          <p:cNvPr id="23" name="Text 20"/>
          <p:cNvSpPr/>
          <p:nvPr/>
        </p:nvSpPr>
        <p:spPr>
          <a:xfrm>
            <a:off x="10972800" y="26023824"/>
            <a:ext cx="9875520" cy="1280160"/>
          </a:xfrm>
          <a:prstGeom prst="rect">
            <a:avLst/>
          </a:prstGeom>
          <a:noFill/>
          <a:ln/>
        </p:spPr>
        <p:txBody>
          <a:bodyPr wrap="square" rtlCol="0" anchor="ctr"/>
          <a:lstStyle/>
          <a:p>
            <a:pPr marL="0" indent="0" algn="l">
              <a:buNone/>
            </a:pPr>
            <a:r>
              <a:rPr lang="en-US" sz="2400" dirty="0">
                <a:solidFill>
                  <a:srgbClr val="222222"/>
                </a:solidFill>
                <a:latin typeface="Calibri" pitchFamily="34" charset="0"/>
                <a:ea typeface="Calibri" pitchFamily="34" charset="-122"/>
                <a:cs typeface="Calibri" pitchFamily="34" charset="-120"/>
              </a:rPr>
              <a:t>Decision boundaries for all three kernels in Age × BMI space  -  the two strongest predictors. Trained on a stratified subsample for visualization clarity.</a:t>
            </a:r>
            <a:endParaRPr lang="en-US" sz="2400" dirty="0"/>
          </a:p>
        </p:txBody>
      </p:sp>
      <p:pic>
        <p:nvPicPr>
          <p:cNvPr id="24" name="Image 1" descr="/Users/skentzos/Sync/Academic/SeattleU/2025-2026/Spring2026/DATA5322/Projects/Week3/figures/decision_boundaries.png"/>
          <p:cNvPicPr>
            <a:picLocks noChangeAspect="1"/>
          </p:cNvPicPr>
          <p:nvPr/>
        </p:nvPicPr>
        <p:blipFill>
          <a:blip r:embed="rId4"/>
          <a:stretch>
            <a:fillRect/>
          </a:stretch>
        </p:blipFill>
        <p:spPr>
          <a:xfrm>
            <a:off x="10972800" y="27441144"/>
            <a:ext cx="9875520" cy="6583680"/>
          </a:xfrm>
          <a:prstGeom prst="rect">
            <a:avLst/>
          </a:prstGeom>
        </p:spPr>
      </p:pic>
      <p:sp>
        <p:nvSpPr>
          <p:cNvPr id="25" name="Text 21"/>
          <p:cNvSpPr/>
          <p:nvPr/>
        </p:nvSpPr>
        <p:spPr>
          <a:xfrm>
            <a:off x="10972800" y="34116264"/>
            <a:ext cx="9875520" cy="822960"/>
          </a:xfrm>
          <a:prstGeom prst="rect">
            <a:avLst/>
          </a:prstGeom>
          <a:noFill/>
          <a:ln/>
        </p:spPr>
        <p:txBody>
          <a:bodyPr wrap="square" rtlCol="0" anchor="ctr"/>
          <a:lstStyle/>
          <a:p>
            <a:pPr marL="0" indent="0" algn="ctr">
              <a:buNone/>
            </a:pPr>
            <a:r>
              <a:rPr lang="en-US" sz="2000" i="1" dirty="0">
                <a:solidFill>
                  <a:srgbClr val="555555"/>
                </a:solidFill>
                <a:latin typeface="Calibri" pitchFamily="34" charset="0"/>
                <a:ea typeface="Calibri" pitchFamily="34" charset="-122"/>
                <a:cs typeface="Calibri" pitchFamily="34" charset="-120"/>
              </a:rPr>
              <a:t>Figure 2. SVM decision boundaries (linear, RBF, polynomial) in Age × BMI space. Shaded regions = predicted class; points = true labels. Diabetes = orange; No Diabetes = blue.</a:t>
            </a:r>
            <a:endParaRPr lang="en-US" sz="2000" dirty="0"/>
          </a:p>
        </p:txBody>
      </p:sp>
      <p:sp>
        <p:nvSpPr>
          <p:cNvPr id="26" name="Shape 22"/>
          <p:cNvSpPr/>
          <p:nvPr/>
        </p:nvSpPr>
        <p:spPr>
          <a:xfrm>
            <a:off x="10972800" y="35122104"/>
            <a:ext cx="9875520" cy="530352"/>
          </a:xfrm>
          <a:prstGeom prst="rect">
            <a:avLst/>
          </a:prstGeom>
          <a:solidFill>
            <a:srgbClr val="74232F"/>
          </a:solidFill>
          <a:ln w="12700">
            <a:solidFill>
              <a:srgbClr val="74232F"/>
            </a:solidFill>
            <a:prstDash val="solid"/>
          </a:ln>
        </p:spPr>
        <p:txBody>
          <a:bodyPr/>
          <a:lstStyle/>
          <a:p>
            <a:endParaRPr/>
          </a:p>
        </p:txBody>
      </p:sp>
      <p:sp>
        <p:nvSpPr>
          <p:cNvPr id="27" name="Text 23"/>
          <p:cNvSpPr/>
          <p:nvPr/>
        </p:nvSpPr>
        <p:spPr>
          <a:xfrm>
            <a:off x="11109960" y="35122104"/>
            <a:ext cx="960120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EDA: DIABETES PREVALENCE</a:t>
            </a:r>
            <a:endParaRPr lang="en-US" sz="2800" dirty="0"/>
          </a:p>
        </p:txBody>
      </p:sp>
      <p:pic>
        <p:nvPicPr>
          <p:cNvPr id="28" name="Image 2" descr="/Users/skentzos/Sync/Academic/SeattleU/2025-2026/Spring2026/DATA5322/Projects/Week3/figures/prevalence_bmi_age.png"/>
          <p:cNvPicPr>
            <a:picLocks noChangeAspect="1"/>
          </p:cNvPicPr>
          <p:nvPr/>
        </p:nvPicPr>
        <p:blipFill>
          <a:blip r:embed="rId5"/>
          <a:stretch>
            <a:fillRect/>
          </a:stretch>
        </p:blipFill>
        <p:spPr>
          <a:xfrm>
            <a:off x="10972800" y="35743896"/>
            <a:ext cx="9875520" cy="4754880"/>
          </a:xfrm>
          <a:prstGeom prst="rect">
            <a:avLst/>
          </a:prstGeom>
        </p:spPr>
      </p:pic>
      <p:sp>
        <p:nvSpPr>
          <p:cNvPr id="29" name="Text 24"/>
          <p:cNvSpPr/>
          <p:nvPr/>
        </p:nvSpPr>
        <p:spPr>
          <a:xfrm>
            <a:off x="10972800" y="40590216"/>
            <a:ext cx="9875520" cy="640080"/>
          </a:xfrm>
          <a:prstGeom prst="rect">
            <a:avLst/>
          </a:prstGeom>
          <a:noFill/>
          <a:ln/>
        </p:spPr>
        <p:txBody>
          <a:bodyPr wrap="square" rtlCol="0" anchor="ctr"/>
          <a:lstStyle/>
          <a:p>
            <a:pPr marL="0" indent="0" algn="ctr">
              <a:buNone/>
            </a:pPr>
            <a:r>
              <a:rPr lang="en-US" sz="2000" i="1" dirty="0">
                <a:solidFill>
                  <a:srgbClr val="555555"/>
                </a:solidFill>
                <a:latin typeface="Calibri" pitchFamily="34" charset="0"/>
                <a:ea typeface="Calibri" pitchFamily="34" charset="-122"/>
                <a:cs typeface="Calibri" pitchFamily="34" charset="-120"/>
              </a:rPr>
              <a:t>Figure 3. Diabetes prevalence rises sharply with BMI decile and age group, motivating both as strong predictors.</a:t>
            </a:r>
            <a:endParaRPr lang="en-US" sz="2000" dirty="0"/>
          </a:p>
        </p:txBody>
      </p:sp>
      <p:sp>
        <p:nvSpPr>
          <p:cNvPr id="30" name="Shape 25"/>
          <p:cNvSpPr/>
          <p:nvPr/>
        </p:nvSpPr>
        <p:spPr>
          <a:xfrm>
            <a:off x="21396960" y="5394960"/>
            <a:ext cx="9875520" cy="530352"/>
          </a:xfrm>
          <a:prstGeom prst="rect">
            <a:avLst/>
          </a:prstGeom>
          <a:solidFill>
            <a:srgbClr val="74232F"/>
          </a:solidFill>
          <a:ln w="12700">
            <a:solidFill>
              <a:srgbClr val="74232F"/>
            </a:solidFill>
            <a:prstDash val="solid"/>
          </a:ln>
        </p:spPr>
        <p:txBody>
          <a:bodyPr/>
          <a:lstStyle/>
          <a:p>
            <a:endParaRPr/>
          </a:p>
        </p:txBody>
      </p:sp>
      <p:sp>
        <p:nvSpPr>
          <p:cNvPr id="31" name="Text 26"/>
          <p:cNvSpPr/>
          <p:nvPr/>
        </p:nvSpPr>
        <p:spPr>
          <a:xfrm>
            <a:off x="21534120" y="5394960"/>
            <a:ext cx="960120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RESULTS</a:t>
            </a:r>
            <a:endParaRPr lang="en-US" sz="2800" dirty="0"/>
          </a:p>
        </p:txBody>
      </p:sp>
      <p:sp>
        <p:nvSpPr>
          <p:cNvPr id="32" name="Text 27"/>
          <p:cNvSpPr/>
          <p:nvPr/>
        </p:nvSpPr>
        <p:spPr>
          <a:xfrm>
            <a:off x="21396960" y="6016752"/>
            <a:ext cx="9875520" cy="502920"/>
          </a:xfrm>
          <a:prstGeom prst="rect">
            <a:avLst/>
          </a:prstGeom>
          <a:noFill/>
          <a:ln/>
        </p:spPr>
        <p:txBody>
          <a:bodyPr wrap="square" rtlCol="0" anchor="ctr"/>
          <a:lstStyle/>
          <a:p>
            <a:pPr marL="0" indent="0">
              <a:buNone/>
            </a:pPr>
            <a:r>
              <a:rPr lang="en-US" sz="2400" b="1" dirty="0">
                <a:solidFill>
                  <a:srgbClr val="222222"/>
                </a:solidFill>
                <a:latin typeface="Calibri" pitchFamily="34" charset="0"/>
                <a:ea typeface="Calibri" pitchFamily="34" charset="-122"/>
                <a:cs typeface="Calibri" pitchFamily="34" charset="-120"/>
              </a:rPr>
              <a:t>Table 1. Tuned Model Performance  -  Test Set (n = 4,755)</a:t>
            </a:r>
            <a:endParaRPr lang="en-US" sz="2400" dirty="0"/>
          </a:p>
        </p:txBody>
      </p:sp>
      <p:graphicFrame>
        <p:nvGraphicFramePr>
          <p:cNvPr id="33" name="Table 0"/>
          <p:cNvGraphicFramePr>
            <a:graphicFrameLocks noGrp="1"/>
          </p:cNvGraphicFramePr>
          <p:nvPr>
            <p:extLst>
              <p:ext uri="{D42A27DB-BD31-4B8C-83A1-F6EECF244321}">
                <p14:modId xmlns:p14="http://schemas.microsoft.com/office/powerpoint/2010/main" val="3708879628"/>
              </p:ext>
            </p:extLst>
          </p:nvPr>
        </p:nvGraphicFramePr>
        <p:xfrm>
          <a:off x="21396960" y="6611112"/>
          <a:ext cx="9875520" cy="2048256"/>
        </p:xfrm>
        <a:graphic>
          <a:graphicData uri="http://schemas.openxmlformats.org/drawingml/2006/table">
            <a:tbl>
              <a:tblPr/>
              <a:tblGrid>
                <a:gridCol w="26517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12064">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Kernel</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74232F"/>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Best CV AUC</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74232F"/>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Test AUC</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74232F"/>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Recall (Diabetes)</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74232F"/>
                    </a:solidFill>
                  </a:tcPr>
                </a:tc>
                <a:extLst>
                  <a:ext uri="{0D108BD9-81ED-4DB2-BD59-A6C34878D82A}">
                    <a16:rowId xmlns:a16="http://schemas.microsoft.com/office/drawing/2014/main" val="10000"/>
                  </a:ext>
                </a:extLst>
              </a:tr>
              <a:tr h="512064">
                <a:tc>
                  <a:txBody>
                    <a:bodyPr/>
                    <a:lstStyle/>
                    <a:p>
                      <a:pPr marL="0" indent="0" algn="ctr">
                        <a:buNone/>
                      </a:pPr>
                      <a:r>
                        <a:rPr lang="en-US" sz="2200" dirty="0">
                          <a:solidFill>
                            <a:srgbClr val="222222"/>
                          </a:solidFill>
                          <a:latin typeface="Calibri" pitchFamily="34" charset="0"/>
                          <a:ea typeface="Calibri" pitchFamily="34" charset="-122"/>
                          <a:cs typeface="Calibri" pitchFamily="34" charset="-120"/>
                        </a:rPr>
                        <a:t>Linear</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2200" dirty="0">
                          <a:solidFill>
                            <a:srgbClr val="222222"/>
                          </a:solidFill>
                          <a:latin typeface="Calibri" pitchFamily="34" charset="0"/>
                          <a:ea typeface="Calibri" pitchFamily="34" charset="-122"/>
                          <a:cs typeface="Calibri" pitchFamily="34" charset="-120"/>
                        </a:rPr>
                        <a:t>0.7898</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2200" dirty="0">
                          <a:solidFill>
                            <a:srgbClr val="222222"/>
                          </a:solidFill>
                          <a:latin typeface="Calibri" pitchFamily="34" charset="0"/>
                          <a:ea typeface="Calibri" pitchFamily="34" charset="-122"/>
                          <a:cs typeface="Calibri" pitchFamily="34" charset="-120"/>
                        </a:rPr>
                        <a:t>0.786</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2200" dirty="0">
                          <a:solidFill>
                            <a:srgbClr val="222222"/>
                          </a:solidFill>
                          <a:latin typeface="Calibri" pitchFamily="34" charset="0"/>
                          <a:ea typeface="Calibri" pitchFamily="34" charset="-122"/>
                          <a:cs typeface="Calibri" pitchFamily="34" charset="-120"/>
                        </a:rPr>
                        <a:t>78.9%</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lgn="ctr">
                        <a:buNone/>
                      </a:pPr>
                      <a:r>
                        <a:rPr lang="en-US" sz="2200" b="1" dirty="0">
                          <a:solidFill>
                            <a:srgbClr val="222222"/>
                          </a:solidFill>
                          <a:latin typeface="Calibri" pitchFamily="34" charset="0"/>
                          <a:ea typeface="Calibri" pitchFamily="34" charset="-122"/>
                          <a:cs typeface="Calibri" pitchFamily="34" charset="-120"/>
                        </a:rPr>
                        <a:t>RBF</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E6E8"/>
                    </a:solidFill>
                  </a:tcPr>
                </a:tc>
                <a:tc>
                  <a:txBody>
                    <a:bodyPr/>
                    <a:lstStyle/>
                    <a:p>
                      <a:pPr marL="0" indent="0" algn="ctr">
                        <a:buNone/>
                      </a:pPr>
                      <a:r>
                        <a:rPr lang="en-US" sz="2200" b="1" dirty="0">
                          <a:solidFill>
                            <a:srgbClr val="222222"/>
                          </a:solidFill>
                          <a:latin typeface="Calibri" pitchFamily="34" charset="0"/>
                          <a:ea typeface="Calibri" pitchFamily="34" charset="-122"/>
                          <a:cs typeface="Calibri" pitchFamily="34" charset="-120"/>
                        </a:rPr>
                        <a:t>0.7970</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E6E8"/>
                    </a:solidFill>
                  </a:tcPr>
                </a:tc>
                <a:tc>
                  <a:txBody>
                    <a:bodyPr/>
                    <a:lstStyle/>
                    <a:p>
                      <a:pPr marL="0" indent="0" algn="ctr">
                        <a:buNone/>
                      </a:pPr>
                      <a:r>
                        <a:rPr lang="en-US" sz="2200" b="1" dirty="0">
                          <a:solidFill>
                            <a:srgbClr val="222222"/>
                          </a:solidFill>
                          <a:latin typeface="Calibri" pitchFamily="34" charset="0"/>
                          <a:ea typeface="Calibri" pitchFamily="34" charset="-122"/>
                          <a:cs typeface="Calibri" pitchFamily="34" charset="-120"/>
                        </a:rPr>
                        <a:t>0.797</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E6E8"/>
                    </a:solidFill>
                  </a:tcPr>
                </a:tc>
                <a:tc>
                  <a:txBody>
                    <a:bodyPr/>
                    <a:lstStyle/>
                    <a:p>
                      <a:pPr marL="0" indent="0" algn="ctr">
                        <a:buNone/>
                      </a:pPr>
                      <a:r>
                        <a:rPr lang="en-US" sz="2200" b="1" dirty="0">
                          <a:solidFill>
                            <a:srgbClr val="222222"/>
                          </a:solidFill>
                          <a:latin typeface="Calibri" pitchFamily="34" charset="0"/>
                          <a:ea typeface="Calibri" pitchFamily="34" charset="-122"/>
                          <a:cs typeface="Calibri" pitchFamily="34" charset="-120"/>
                        </a:rPr>
                        <a:t>79.5%</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E6E8"/>
                    </a:solidFill>
                  </a:tcPr>
                </a:tc>
                <a:extLst>
                  <a:ext uri="{0D108BD9-81ED-4DB2-BD59-A6C34878D82A}">
                    <a16:rowId xmlns:a16="http://schemas.microsoft.com/office/drawing/2014/main" val="10002"/>
                  </a:ext>
                </a:extLst>
              </a:tr>
              <a:tr h="512064">
                <a:tc>
                  <a:txBody>
                    <a:bodyPr/>
                    <a:lstStyle/>
                    <a:p>
                      <a:pPr marL="0" indent="0" algn="ctr">
                        <a:buNone/>
                      </a:pPr>
                      <a:r>
                        <a:rPr lang="en-US" sz="2200" dirty="0">
                          <a:solidFill>
                            <a:srgbClr val="222222"/>
                          </a:solidFill>
                          <a:latin typeface="Calibri" pitchFamily="34" charset="0"/>
                          <a:ea typeface="Calibri" pitchFamily="34" charset="-122"/>
                          <a:cs typeface="Calibri" pitchFamily="34" charset="-120"/>
                        </a:rPr>
                        <a:t>Polynomial</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2200" dirty="0">
                          <a:solidFill>
                            <a:srgbClr val="222222"/>
                          </a:solidFill>
                          <a:latin typeface="Calibri" pitchFamily="34" charset="0"/>
                          <a:ea typeface="Calibri" pitchFamily="34" charset="-122"/>
                          <a:cs typeface="Calibri" pitchFamily="34" charset="-120"/>
                        </a:rPr>
                        <a:t>0.7775</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2200" dirty="0">
                          <a:solidFill>
                            <a:srgbClr val="222222"/>
                          </a:solidFill>
                          <a:latin typeface="Calibri" pitchFamily="34" charset="0"/>
                          <a:ea typeface="Calibri" pitchFamily="34" charset="-122"/>
                          <a:cs typeface="Calibri" pitchFamily="34" charset="-120"/>
                        </a:rPr>
                        <a:t>0.776</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lgn="ctr">
                        <a:buNone/>
                      </a:pPr>
                      <a:r>
                        <a:rPr lang="en-US" sz="2200" dirty="0">
                          <a:solidFill>
                            <a:srgbClr val="222222"/>
                          </a:solidFill>
                          <a:latin typeface="Calibri" pitchFamily="34" charset="0"/>
                          <a:ea typeface="Calibri" pitchFamily="34" charset="-122"/>
                          <a:cs typeface="Calibri" pitchFamily="34" charset="-120"/>
                        </a:rPr>
                        <a:t>72.0%</a:t>
                      </a:r>
                      <a:endParaRPr lang="en-US" sz="2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4" name="Text 28"/>
          <p:cNvSpPr/>
          <p:nvPr/>
        </p:nvSpPr>
        <p:spPr>
          <a:xfrm>
            <a:off x="21396960" y="8933688"/>
            <a:ext cx="9875520" cy="1005840"/>
          </a:xfrm>
          <a:prstGeom prst="rect">
            <a:avLst/>
          </a:prstGeom>
          <a:noFill/>
          <a:ln/>
        </p:spPr>
        <p:txBody>
          <a:bodyPr wrap="square" rtlCol="0" anchor="ctr"/>
          <a:lstStyle/>
          <a:p>
            <a:r>
              <a:rPr lang="en-US" sz="2400" dirty="0"/>
              <a:t>While the RBF kernel performs best, the difference between models is relatively small, suggesting that the relationship between features and diabetes may be mostly linear.</a:t>
            </a:r>
            <a:r>
              <a:rPr lang="en-US" sz="2400" i="1" dirty="0">
                <a:solidFill>
                  <a:srgbClr val="222222"/>
                </a:solidFill>
                <a:latin typeface="Calibri" pitchFamily="34" charset="0"/>
                <a:ea typeface="Calibri" pitchFamily="34" charset="-122"/>
                <a:cs typeface="Calibri" pitchFamily="34" charset="-120"/>
              </a:rPr>
              <a:t> </a:t>
            </a:r>
            <a:endParaRPr lang="en-US" sz="2400" dirty="0"/>
          </a:p>
        </p:txBody>
      </p:sp>
      <p:pic>
        <p:nvPicPr>
          <p:cNvPr id="35" name="Image 3" descr="/Users/skentzos/Sync/Academic/SeattleU/2025-2026/Spring2026/DATA5322/Projects/Week3/figures/model_comparison.png"/>
          <p:cNvPicPr>
            <a:picLocks noChangeAspect="1"/>
          </p:cNvPicPr>
          <p:nvPr/>
        </p:nvPicPr>
        <p:blipFill>
          <a:blip r:embed="rId6"/>
          <a:stretch>
            <a:fillRect/>
          </a:stretch>
        </p:blipFill>
        <p:spPr>
          <a:xfrm>
            <a:off x="21396960" y="10122408"/>
            <a:ext cx="9875520" cy="6400800"/>
          </a:xfrm>
          <a:prstGeom prst="rect">
            <a:avLst/>
          </a:prstGeom>
        </p:spPr>
      </p:pic>
      <p:sp>
        <p:nvSpPr>
          <p:cNvPr id="36" name="Text 29"/>
          <p:cNvSpPr/>
          <p:nvPr/>
        </p:nvSpPr>
        <p:spPr>
          <a:xfrm>
            <a:off x="21396960" y="16614648"/>
            <a:ext cx="9875520" cy="640080"/>
          </a:xfrm>
          <a:prstGeom prst="rect">
            <a:avLst/>
          </a:prstGeom>
          <a:noFill/>
          <a:ln/>
        </p:spPr>
        <p:txBody>
          <a:bodyPr wrap="square" rtlCol="0" anchor="ctr"/>
          <a:lstStyle/>
          <a:p>
            <a:pPr marL="0" indent="0" algn="ctr">
              <a:buNone/>
            </a:pPr>
            <a:r>
              <a:rPr lang="en-US" sz="2000" i="1" dirty="0">
                <a:solidFill>
                  <a:srgbClr val="555555"/>
                </a:solidFill>
                <a:latin typeface="Calibri" pitchFamily="34" charset="0"/>
                <a:ea typeface="Calibri" pitchFamily="34" charset="-122"/>
                <a:cs typeface="Calibri" pitchFamily="34" charset="-120"/>
              </a:rPr>
              <a:t>Figure 4. ROC curves and confusion matrix for all three tuned kernels. RBF slightly outperforms linear on AUC.</a:t>
            </a:r>
            <a:endParaRPr lang="en-US" sz="2000" dirty="0"/>
          </a:p>
        </p:txBody>
      </p:sp>
      <p:pic>
        <p:nvPicPr>
          <p:cNvPr id="37" name="Image 4" descr="/Users/skentzos/Sync/Academic/SeattleU/2025-2026/Spring2026/DATA5322/Projects/Week3/figures/linear_svm_weights.png"/>
          <p:cNvPicPr>
            <a:picLocks noChangeAspect="1"/>
          </p:cNvPicPr>
          <p:nvPr/>
        </p:nvPicPr>
        <p:blipFill>
          <a:blip r:embed="rId7"/>
          <a:stretch>
            <a:fillRect/>
          </a:stretch>
        </p:blipFill>
        <p:spPr>
          <a:xfrm>
            <a:off x="21396960" y="17437608"/>
            <a:ext cx="9875520" cy="5029200"/>
          </a:xfrm>
          <a:prstGeom prst="rect">
            <a:avLst/>
          </a:prstGeom>
        </p:spPr>
      </p:pic>
      <p:sp>
        <p:nvSpPr>
          <p:cNvPr id="38" name="Text 30"/>
          <p:cNvSpPr/>
          <p:nvPr/>
        </p:nvSpPr>
        <p:spPr>
          <a:xfrm>
            <a:off x="21396960" y="22558248"/>
            <a:ext cx="9875520" cy="731520"/>
          </a:xfrm>
          <a:prstGeom prst="rect">
            <a:avLst/>
          </a:prstGeom>
          <a:noFill/>
          <a:ln/>
        </p:spPr>
        <p:txBody>
          <a:bodyPr wrap="square" rtlCol="0" anchor="ctr"/>
          <a:lstStyle/>
          <a:p>
            <a:pPr marL="0" indent="0" algn="ctr">
              <a:buNone/>
            </a:pPr>
            <a:r>
              <a:rPr lang="en-US" sz="2000" i="1" dirty="0">
                <a:solidFill>
                  <a:srgbClr val="555555"/>
                </a:solidFill>
                <a:latin typeface="Calibri" pitchFamily="34" charset="0"/>
                <a:ea typeface="Calibri" pitchFamily="34" charset="-122"/>
                <a:cs typeface="Calibri" pitchFamily="34" charset="-120"/>
              </a:rPr>
              <a:t>Figure 5. Linear SVM feature weights. BMI and Age carry the largest positive weights (↑ diabetes risk); vigorous activity and education are protective.</a:t>
            </a:r>
            <a:endParaRPr lang="en-US" sz="2000" dirty="0"/>
          </a:p>
        </p:txBody>
      </p:sp>
      <p:sp>
        <p:nvSpPr>
          <p:cNvPr id="39" name="Shape 31"/>
          <p:cNvSpPr/>
          <p:nvPr/>
        </p:nvSpPr>
        <p:spPr>
          <a:xfrm>
            <a:off x="21396960" y="23472648"/>
            <a:ext cx="9875520" cy="530352"/>
          </a:xfrm>
          <a:prstGeom prst="rect">
            <a:avLst/>
          </a:prstGeom>
          <a:solidFill>
            <a:srgbClr val="74232F"/>
          </a:solidFill>
          <a:ln w="12700">
            <a:solidFill>
              <a:srgbClr val="74232F"/>
            </a:solidFill>
            <a:prstDash val="solid"/>
          </a:ln>
        </p:spPr>
        <p:txBody>
          <a:bodyPr/>
          <a:lstStyle/>
          <a:p>
            <a:endParaRPr/>
          </a:p>
        </p:txBody>
      </p:sp>
      <p:sp>
        <p:nvSpPr>
          <p:cNvPr id="40" name="Text 32"/>
          <p:cNvSpPr/>
          <p:nvPr/>
        </p:nvSpPr>
        <p:spPr>
          <a:xfrm>
            <a:off x="21534120" y="23472648"/>
            <a:ext cx="960120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DISCUSSION</a:t>
            </a:r>
            <a:endParaRPr lang="en-US" sz="2800" dirty="0"/>
          </a:p>
        </p:txBody>
      </p:sp>
      <p:sp>
        <p:nvSpPr>
          <p:cNvPr id="41" name="Text 33"/>
          <p:cNvSpPr/>
          <p:nvPr/>
        </p:nvSpPr>
        <p:spPr>
          <a:xfrm>
            <a:off x="21396960" y="24094440"/>
            <a:ext cx="9875520" cy="8961120"/>
          </a:xfrm>
          <a:prstGeom prst="rect">
            <a:avLst/>
          </a:prstGeom>
          <a:noFill/>
          <a:ln/>
        </p:spPr>
        <p:txBody>
          <a:bodyPr wrap="square" rtlCol="0" anchor="t"/>
          <a:lstStyle/>
          <a:p>
            <a:r>
              <a:rPr lang="en-US" sz="2000" dirty="0">
                <a:solidFill>
                  <a:srgbClr val="222222"/>
                </a:solidFill>
                <a:latin typeface="Calibri" pitchFamily="34" charset="0"/>
                <a:cs typeface="Calibri" pitchFamily="34" charset="-120"/>
              </a:rPr>
              <a:t>I initially expected the non-linear kernels to significantly outperform the linear model due to potential interactions between lifestyle variables. However, the results suggest that these effects are either weak or not fully captured by the selected features.</a:t>
            </a:r>
          </a:p>
          <a:p>
            <a:r>
              <a:rPr lang="en-US" sz="2000" dirty="0">
                <a:solidFill>
                  <a:srgbClr val="222222"/>
                </a:solidFill>
                <a:latin typeface="Calibri" pitchFamily="34" charset="0"/>
                <a:cs typeface="Calibri" pitchFamily="34" charset="-120"/>
              </a:rPr>
              <a:t>The lower performance of the polynomial kernel may be due to overfitting or the limited benefit of higher-order interactions in this dataset.</a:t>
            </a:r>
          </a:p>
          <a:p>
            <a:pPr marL="0" indent="0" algn="l">
              <a:buNone/>
            </a:pPr>
            <a:r>
              <a:rPr lang="en-US" sz="2400" b="1" dirty="0">
                <a:solidFill>
                  <a:srgbClr val="222222"/>
                </a:solidFill>
                <a:latin typeface="Calibri" pitchFamily="34" charset="0"/>
                <a:ea typeface="Calibri" pitchFamily="34" charset="-122"/>
                <a:cs typeface="Calibri" pitchFamily="34" charset="-120"/>
              </a:rPr>
              <a:t>Strongest predictors: </a:t>
            </a:r>
            <a:r>
              <a:rPr lang="en-US" sz="2400" dirty="0">
                <a:solidFill>
                  <a:srgbClr val="222222"/>
                </a:solidFill>
                <a:latin typeface="Calibri" pitchFamily="34" charset="0"/>
                <a:ea typeface="Calibri" pitchFamily="34" charset="-122"/>
                <a:cs typeface="Calibri" pitchFamily="34" charset="-120"/>
              </a:rPr>
              <a:t>BMI and Age dominate the linear SVM weight vector, consistent with clinical literature [2]. Obesity and aging are the primary drivers  -  even without lab values.</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Lifestyle factors: </a:t>
            </a:r>
            <a:r>
              <a:rPr lang="en-US" sz="2400" dirty="0">
                <a:solidFill>
                  <a:srgbClr val="222222"/>
                </a:solidFill>
                <a:latin typeface="Calibri" pitchFamily="34" charset="0"/>
                <a:ea typeface="Calibri" pitchFamily="34" charset="-122"/>
                <a:cs typeface="Calibri" pitchFamily="34" charset="-120"/>
              </a:rPr>
              <a:t>Smoking, physical inactivity, and high soda consumption all push toward diabetes. These are modifiable  -  the model quantifies their relative contribution directly [5,7].</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Social determinants: </a:t>
            </a:r>
            <a:r>
              <a:rPr lang="en-US" sz="2400" dirty="0">
                <a:solidFill>
                  <a:srgbClr val="222222"/>
                </a:solidFill>
                <a:latin typeface="Calibri" pitchFamily="34" charset="0"/>
                <a:ea typeface="Calibri" pitchFamily="34" charset="-122"/>
                <a:cs typeface="Calibri" pitchFamily="34" charset="-120"/>
              </a:rPr>
              <a:t>Education and poverty carry meaningful weights [3]. Lower income and education reflect reduced access to healthy food, physical activity infrastructure, and preventive care  -  structural, not merely individual, risk.</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Kernel comparison: </a:t>
            </a:r>
            <a:r>
              <a:rPr lang="en-US" sz="2400" dirty="0">
                <a:solidFill>
                  <a:srgbClr val="222222"/>
                </a:solidFill>
                <a:latin typeface="Calibri" pitchFamily="34" charset="0"/>
                <a:ea typeface="Calibri" pitchFamily="34" charset="-122"/>
                <a:cs typeface="Calibri" pitchFamily="34" charset="-120"/>
              </a:rPr>
              <a:t>All three kernels achieve ~0.79 AUC. The linear kernel matching RBF suggests the diabetes signal in these 13 survey features is predominantly linear. Alcohol’s U-shaped true relationship [6] is one likely source of residual error.</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Limitations: </a:t>
            </a:r>
            <a:r>
              <a:rPr lang="en-US" sz="2400" dirty="0">
                <a:solidFill>
                  <a:srgbClr val="222222"/>
                </a:solidFill>
                <a:latin typeface="Calibri" pitchFamily="34" charset="0"/>
                <a:ea typeface="Calibri" pitchFamily="34" charset="-122"/>
                <a:cs typeface="Calibri" pitchFamily="34" charset="-120"/>
              </a:rPr>
              <a:t>Self-reported data (recall bias); no clinical biomarkers (HbA1c, fasting glucose); outcome is prevalent, not incident, diagnosis.</a:t>
            </a:r>
            <a:endParaRPr lang="en-US" sz="2400" dirty="0"/>
          </a:p>
          <a:p>
            <a:pPr marL="0" indent="0" algn="l">
              <a:buNone/>
            </a:pPr>
            <a:r>
              <a:rPr lang="en-US" sz="800" dirty="0">
                <a:solidFill>
                  <a:srgbClr val="222222"/>
                </a:solidFill>
                <a:latin typeface="Calibri" pitchFamily="34" charset="0"/>
                <a:ea typeface="Calibri" pitchFamily="34" charset="-122"/>
                <a:cs typeface="Calibri" pitchFamily="34" charset="-120"/>
              </a:rPr>
              <a:t> </a:t>
            </a:r>
            <a:endParaRPr lang="en-US" sz="2400" dirty="0"/>
          </a:p>
          <a:p>
            <a:pPr marL="0" indent="0" algn="l">
              <a:buNone/>
            </a:pPr>
            <a:r>
              <a:rPr lang="en-US" sz="2400" b="1" dirty="0">
                <a:solidFill>
                  <a:srgbClr val="222222"/>
                </a:solidFill>
                <a:latin typeface="Calibri" pitchFamily="34" charset="0"/>
                <a:ea typeface="Calibri" pitchFamily="34" charset="-122"/>
                <a:cs typeface="Calibri" pitchFamily="34" charset="-120"/>
              </a:rPr>
              <a:t>Policy: </a:t>
            </a:r>
            <a:r>
              <a:rPr lang="en-US" sz="2400" dirty="0">
                <a:solidFill>
                  <a:srgbClr val="222222"/>
                </a:solidFill>
                <a:latin typeface="Calibri" pitchFamily="34" charset="0"/>
                <a:ea typeface="Calibri" pitchFamily="34" charset="-122"/>
                <a:cs typeface="Calibri" pitchFamily="34" charset="-120"/>
              </a:rPr>
              <a:t>Target screening for adults &gt;45 with elevated BMI. Invest in physical activity and healthy food access in high-poverty communities. Smoking cessation programs reduce T2D risk by 30–40% [5].</a:t>
            </a:r>
            <a:endParaRPr lang="en-US" sz="2400" dirty="0"/>
          </a:p>
        </p:txBody>
      </p:sp>
      <p:sp>
        <p:nvSpPr>
          <p:cNvPr id="42" name="Shape 34"/>
          <p:cNvSpPr/>
          <p:nvPr/>
        </p:nvSpPr>
        <p:spPr>
          <a:xfrm>
            <a:off x="21396960" y="33238440"/>
            <a:ext cx="9875520" cy="530352"/>
          </a:xfrm>
          <a:prstGeom prst="rect">
            <a:avLst/>
          </a:prstGeom>
          <a:solidFill>
            <a:srgbClr val="74232F"/>
          </a:solidFill>
          <a:ln w="12700">
            <a:solidFill>
              <a:srgbClr val="74232F"/>
            </a:solidFill>
            <a:prstDash val="solid"/>
          </a:ln>
        </p:spPr>
        <p:txBody>
          <a:bodyPr/>
          <a:lstStyle/>
          <a:p>
            <a:endParaRPr/>
          </a:p>
        </p:txBody>
      </p:sp>
      <p:sp>
        <p:nvSpPr>
          <p:cNvPr id="43" name="Text 35"/>
          <p:cNvSpPr/>
          <p:nvPr/>
        </p:nvSpPr>
        <p:spPr>
          <a:xfrm>
            <a:off x="21534120" y="33238440"/>
            <a:ext cx="9601200" cy="53035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CONCLUSIONS</a:t>
            </a:r>
            <a:endParaRPr lang="en-US" sz="2800" dirty="0"/>
          </a:p>
        </p:txBody>
      </p:sp>
      <p:sp>
        <p:nvSpPr>
          <p:cNvPr id="44" name="Text 36"/>
          <p:cNvSpPr/>
          <p:nvPr/>
        </p:nvSpPr>
        <p:spPr>
          <a:xfrm>
            <a:off x="21396960" y="33860232"/>
            <a:ext cx="9875520" cy="6391656"/>
          </a:xfrm>
          <a:prstGeom prst="rect">
            <a:avLst/>
          </a:prstGeom>
          <a:noFill/>
          <a:ln/>
        </p:spPr>
        <p:txBody>
          <a:bodyPr wrap="square" rtlCol="0" anchor="t"/>
          <a:lstStyle/>
          <a:p>
            <a:pPr marL="342900" indent="-342900">
              <a:buSzPct val="100000"/>
              <a:buChar char="•"/>
            </a:pPr>
            <a:r>
              <a:rPr lang="en-US" sz="2400" dirty="0"/>
              <a:t>These results suggest that survey-based SVM screening can achieve </a:t>
            </a:r>
            <a:r>
              <a:rPr lang="en-US" sz="2400" dirty="0">
                <a:solidFill>
                  <a:srgbClr val="222222"/>
                </a:solidFill>
                <a:latin typeface="Calibri" pitchFamily="34" charset="0"/>
                <a:ea typeface="Calibri" pitchFamily="34" charset="-122"/>
                <a:cs typeface="Calibri" pitchFamily="34" charset="-120"/>
              </a:rPr>
              <a:t>~0.80 AUC  -  clinically meaningful for a lab-free tool</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A linear SVM is sufficient; RBF/poly add computational cost without substantial accuracy gain</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BMI, age, poverty, and education are the dominant predictors, reflecting both biological and structural drivers of diabetes</a:t>
            </a:r>
            <a:endParaRPr lang="en-US" sz="2400" dirty="0"/>
          </a:p>
          <a:p>
            <a:pPr marL="342900" indent="-342900" algn="l">
              <a:buSzPct val="100000"/>
              <a:buChar char="•"/>
            </a:pPr>
            <a:r>
              <a:rPr lang="en-US" sz="2400" dirty="0">
                <a:solidFill>
                  <a:srgbClr val="222222"/>
                </a:solidFill>
                <a:latin typeface="Calibri" pitchFamily="34" charset="0"/>
                <a:ea typeface="Calibri" pitchFamily="34" charset="-122"/>
                <a:cs typeface="Calibri" pitchFamily="34" charset="-120"/>
              </a:rPr>
              <a:t>Low-cost screening from standard health survey data could support population-level early intervention in resource-limited settings</a:t>
            </a:r>
          </a:p>
          <a:p>
            <a:pPr marL="342900" indent="-342900" algn="l">
              <a:buSzPct val="100000"/>
              <a:buChar char="•"/>
            </a:pPr>
            <a:endParaRPr lang="en-US" sz="2400" dirty="0">
              <a:solidFill>
                <a:srgbClr val="222222"/>
              </a:solidFill>
              <a:latin typeface="Calibri" pitchFamily="34" charset="0"/>
              <a:cs typeface="Calibri" pitchFamily="34" charset="-120"/>
            </a:endParaRPr>
          </a:p>
          <a:p>
            <a:pPr algn="l">
              <a:buSzPct val="100000"/>
            </a:pPr>
            <a:r>
              <a:rPr lang="en-US" sz="2400" dirty="0"/>
              <a:t>Limitations</a:t>
            </a:r>
            <a:r>
              <a:rPr lang="en-US" sz="2400"/>
              <a:t>: </a:t>
            </a:r>
            <a:endParaRPr lang="en-US" sz="2400" dirty="0"/>
          </a:p>
          <a:p>
            <a:pPr marL="342900" indent="-342900" algn="l">
              <a:buSzPct val="100000"/>
              <a:buFont typeface="Arial" panose="020B0604020202020204" pitchFamily="34" charset="0"/>
              <a:buChar char="•"/>
            </a:pPr>
            <a:r>
              <a:rPr lang="en-US" sz="2400" dirty="0"/>
              <a:t>Self-reported data may introduce bias</a:t>
            </a:r>
          </a:p>
          <a:p>
            <a:pPr marL="342900" indent="-342900" algn="l">
              <a:buSzPct val="100000"/>
              <a:buFont typeface="Arial" panose="020B0604020202020204" pitchFamily="34" charset="0"/>
              <a:buChar char="•"/>
            </a:pPr>
            <a:r>
              <a:rPr lang="en-US" sz="2400" dirty="0"/>
              <a:t>No clinical bio-markers included</a:t>
            </a:r>
          </a:p>
          <a:p>
            <a:pPr marL="342900" indent="-342900" algn="l">
              <a:buSzPct val="100000"/>
              <a:buFont typeface="Arial" panose="020B0604020202020204" pitchFamily="34" charset="0"/>
              <a:buChar char="•"/>
            </a:pPr>
            <a:r>
              <a:rPr lang="en-US" sz="2400" dirty="0"/>
              <a:t>Cross-sectional (not predictive of future diagnosis)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1661</Words>
  <Application>Microsoft Macintosh PowerPoint</Application>
  <PresentationFormat>Custom</PresentationFormat>
  <Paragraphs>136</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Paul Skentzos</cp:lastModifiedBy>
  <cp:revision>8</cp:revision>
  <dcterms:created xsi:type="dcterms:W3CDTF">2026-04-20T22:56:54Z</dcterms:created>
  <dcterms:modified xsi:type="dcterms:W3CDTF">2026-04-27T00:26:01Z</dcterms:modified>
</cp:coreProperties>
</file>